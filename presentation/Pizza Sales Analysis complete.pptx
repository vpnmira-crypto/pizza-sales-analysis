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99Zs8VevUK2meYO23JINUyKsw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20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20"/>
          <p:cNvSpPr/>
          <p:nvPr/>
        </p:nvSpPr>
        <p:spPr>
          <a:xfrm>
            <a:off x="566928" y="6510528"/>
            <a:ext cx="3383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730"/>
              <a:buFont typeface="Arial"/>
              <a:buNone/>
            </a:pPr>
            <a:r>
              <a:rPr b="0" i="0" lang="en-US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Pizza Sales Analysis — 2015</a:t>
            </a:r>
            <a:endParaRPr b="0" i="0" sz="7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77240" y="1325880"/>
            <a:ext cx="2240280" cy="2240280"/>
          </a:xfrm>
          <a:prstGeom prst="ellipse">
            <a:avLst/>
          </a:prstGeom>
          <a:solidFill>
            <a:srgbClr val="D9E8F3"/>
          </a:solidFill>
          <a:ln cap="flat" cmpd="sng" w="12700">
            <a:solidFill>
              <a:srgbClr val="D9E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960120" y="1508760"/>
            <a:ext cx="1874520" cy="1874520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298448" y="1901952"/>
            <a:ext cx="155448" cy="155448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938528" y="2322576"/>
            <a:ext cx="164592" cy="164592"/>
          </a:xfrm>
          <a:prstGeom prst="ellipse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434840" y="1325880"/>
            <a:ext cx="6217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PIZZA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SALES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480560" y="296265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Продажі піцерії за 2015 рік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480560" y="3520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SQL • Tableau • бізнес-рекомендації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480560" y="54406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Deutsche Tech Akademie · Data Analytics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480560" y="58064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Автор: _</a:t>
            </a:r>
            <a:r>
              <a:rPr lang="en-US" sz="950">
                <a:solidFill>
                  <a:srgbClr val="263746"/>
                </a:solidFill>
              </a:rPr>
              <a:t>M. Ivanova</a:t>
            </a:r>
            <a:r>
              <a:rPr b="0" i="0" lang="en-US" sz="95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Бізнес-ситуація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Що потрібно вирішити новій власниці піцерії на основі даних за 2015 рік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" y="1261872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Лаура Мартінес отримала історію всіх замовлень за рік і хоче перетворити її на три практичні рішення.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7240" y="210312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941832" y="2340864"/>
            <a:ext cx="502920" cy="50292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941832" y="246888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600200" y="234086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Графік змін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78408" y="29992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Коли потрібна максимальна кількість персоналу, а коли навантаження низьке?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0" y="210312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36592" y="2340864"/>
            <a:ext cx="502920" cy="50292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36592" y="246888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394960" y="234086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Меню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773168" y="29992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Які 3–5 позицій можна скоротити з мінімальним впливом на виручку?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366760" y="2103120"/>
            <a:ext cx="3246120" cy="1965960"/>
          </a:xfrm>
          <a:prstGeom prst="roundRect">
            <a:avLst>
              <a:gd fmla="val 2791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8531352" y="2340864"/>
            <a:ext cx="502920" cy="502920"/>
          </a:xfrm>
          <a:prstGeom prst="ellipse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531352" y="2468880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189720" y="234086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Промо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567928" y="29992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У який день і час тестувати акцію, щоб підсилити слабке вікно?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68680" y="480060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033272" y="491032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Фокус презентації: конкретні цифри → висновок → рішення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Дані та ER-діаграма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 пов’язані таблиці → перевірені ключі та зв’язки → вибірка sales_lines для Tableau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66928" y="1188720"/>
            <a:ext cx="7543800" cy="4892040"/>
          </a:xfrm>
          <a:prstGeom prst="roundRect">
            <a:avLst>
              <a:gd fmla="val 748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image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1371600"/>
            <a:ext cx="6903720" cy="459943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8394192" y="1353312"/>
            <a:ext cx="3063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394192" y="1353312"/>
            <a:ext cx="73152" cy="107899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8558784" y="1499616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Період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558784" y="1810512"/>
            <a:ext cx="2807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2015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558784" y="2121408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повний рік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394192" y="2679192"/>
            <a:ext cx="3063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8394192" y="2679192"/>
            <a:ext cx="73152" cy="107899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558784" y="2825496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sales_lines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558775" y="3008350"/>
            <a:ext cx="28071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48 620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558784" y="3447288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рядків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394192" y="4005072"/>
            <a:ext cx="3063240" cy="1417320"/>
          </a:xfrm>
          <a:prstGeom prst="roundRect">
            <a:avLst>
              <a:gd fmla="val 2581" name="adj"/>
            </a:avLst>
          </a:prstGeom>
          <a:solidFill>
            <a:srgbClr val="EDF4F8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622792" y="4187952"/>
            <a:ext cx="2560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Логіка зв’язків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622792" y="455371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orders 1:N order_details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order_details N:1 pizzas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pizzas N:1 pizza_types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394192" y="5605272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25D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1F425D"/>
                </a:solidFill>
                <a:latin typeface="Arial"/>
                <a:ea typeface="Arial"/>
                <a:cs typeface="Arial"/>
                <a:sym typeface="Arial"/>
              </a:rPr>
              <a:t>Один рядок у sales_lines = одна позиція замовлення.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Очищення та підготовка даних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Що перевірено до розрахунків і як підготовлено вибірку для Tableau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9436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6C8EAD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033277" y="1824152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481313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Перевірка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16128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рядки, NULL, формати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47472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4E79A7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931912" y="1824215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379973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04164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4 таблиці без дублювань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5508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8FB3CF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730922" y="1824215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114158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2200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price → REAL, quantity → INTEGER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235440" y="1645920"/>
            <a:ext cx="2606040" cy="960120"/>
          </a:xfrm>
          <a:prstGeom prst="chevron">
            <a:avLst>
              <a:gd fmla="val 50000" name="adj"/>
            </a:avLst>
          </a:prstGeom>
          <a:solidFill>
            <a:srgbClr val="294E6B"/>
          </a:solidFill>
          <a:ln cap="flat" cmpd="sng" w="12700">
            <a:solidFill>
              <a:srgbClr val="F7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9660057" y="1824215"/>
            <a:ext cx="32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54293" y="1810512"/>
            <a:ext cx="155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9802368" y="2121408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EEE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F7EEE6"/>
                </a:solidFill>
                <a:latin typeface="Arial"/>
                <a:ea typeface="Arial"/>
                <a:cs typeface="Arial"/>
                <a:sym typeface="Arial"/>
              </a:rPr>
              <a:t>sales_lines для Tableau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13232" y="32461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Обов’язкові SQL-конструкції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77240" y="3703320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JOIN усіх 4 таблиць</a:t>
            </a:r>
            <a:endParaRPr sz="10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GROUP BY / HAVING / CASE</a:t>
            </a:r>
            <a:endParaRPr sz="10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strftime() для дати й часу</a:t>
            </a:r>
            <a:endParaRPr sz="10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CTE / підзапит</a:t>
            </a:r>
            <a:endParaRPr sz="10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LAG, RANK, SUM() OVER — бонусні віконні функції</a:t>
            </a:r>
            <a:endParaRPr sz="101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0" y="3337560"/>
            <a:ext cx="6583680" cy="1554480"/>
          </a:xfrm>
          <a:prstGeom prst="roundRect">
            <a:avLst>
              <a:gd fmla="val 2941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754880" y="3547872"/>
            <a:ext cx="62179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sales_lines AS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o.order_id, o.date, o.time,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pt.name AS pizza_name, p.size,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CAST(p.price AS REAL) AS unit_price,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CAST(od.quantity AS INTEGER) AS quantity,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CAST(p.price AS REAL)*CAST(od.quantity AS INTEGER) AS revenue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800"/>
              <a:buFont typeface="Courier New"/>
              <a:buNone/>
            </a:pPr>
            <a:r>
              <a:rPr lang="en-US" sz="80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 JOIN order_details od ...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68680" y="534924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033272" y="545896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Контрольна логіка: sales_lines не повинна мати більше рядків, ніж order_details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730" u="none" cap="none" strike="noStrike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730" u="none" cap="none" strike="noStrike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1. Загальні KPI за 2015 рік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Яка загальна виручка, кількість замовлень, проданих піц, середній чек і середня кількість піц у замовленні?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8368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48643" y="1975104"/>
            <a:ext cx="73200" cy="102420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22960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Виручка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85800" y="2432300"/>
            <a:ext cx="1874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$817,860.05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926080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926080" y="1975104"/>
            <a:ext cx="73152" cy="1024128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3090672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Замовлення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090672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21,350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193792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193792" y="1975104"/>
            <a:ext cx="73152" cy="1024128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358384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Продано піц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358384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49,574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461504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461504" y="1975104"/>
            <a:ext cx="73152" cy="1024128"/>
          </a:xfrm>
          <a:prstGeom prst="rect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7626096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Середній чек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626096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$38.31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9729216" y="1975104"/>
            <a:ext cx="1993392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9729216" y="1975104"/>
            <a:ext cx="73152" cy="1024128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9893808" y="212140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Піц / замовлення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893808" y="2432304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2.32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68680" y="3319272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033272" y="3429000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Базова картина: великий обсяг замовлень, але середній чек залишається відносно невисоким — далі шукаємо резерви у часі, меню та великих замовленнях.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13232" y="3977640"/>
            <a:ext cx="10744200" cy="1965960"/>
          </a:xfrm>
          <a:prstGeom prst="roundRect">
            <a:avLst>
              <a:gd fmla="val 1860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77824" y="408736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77824" y="4325112"/>
            <a:ext cx="10415016" cy="1527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ROUND(SUM(p.price * od.quantity),2) AS total_revenue,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COUNT(DISTINCT o.order_id) AS total_orders,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SUM(od.quantity) AS total_pizzas_sold,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 * od.quantity) / COUNT(DISTINCT o.order_id),2) AS avg_order_value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o JOIN order_details od ON o.order_id=od.order_id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JOIN pizzas p ON od.pizza_id=p.pizza_id;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2. Динаміка по місяцях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Який місяць найсильніший, який найслабший і як змінюється виручка відносно попереднього місяця?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22960" y="1938528"/>
            <a:ext cx="306324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22960" y="1938528"/>
            <a:ext cx="73152" cy="117043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987552" y="2084832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Найсильніший місяць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987552" y="2395728"/>
            <a:ext cx="2807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July $72,557.90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87552" y="2798064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1,935 замовлень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26280" y="1938528"/>
            <a:ext cx="306324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526280" y="1938528"/>
            <a:ext cx="73152" cy="117043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690872" y="2084832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Найслабший місяць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99425" y="2395725"/>
            <a:ext cx="3234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October $64,027.60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690872" y="2798064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1,646 замовлень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229600" y="1938528"/>
            <a:ext cx="3063240" cy="1170432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8229600" y="1938528"/>
            <a:ext cx="73152" cy="1170432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394192" y="2084832"/>
            <a:ext cx="2807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Найбільший приріст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394192" y="2395728"/>
            <a:ext cx="2807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November  +9.95%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8394192" y="2798064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December: −8.09%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68680" y="3401568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1033272" y="3511296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Сезонність не різка, але жовтень потребує окремої уваги — це найслабший місяць за виручкою.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13232" y="3977640"/>
            <a:ext cx="10744200" cy="1965960"/>
          </a:xfrm>
          <a:prstGeom prst="roundRect">
            <a:avLst>
              <a:gd fmla="val 1860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877824" y="408736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77824" y="4325112"/>
            <a:ext cx="10415016" cy="1527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monthly_sales AS (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SELECT strftime('%m',o.date) AS month,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SUM(p.price*od.quantity) AS revenue, COUNT(DISTINCT o.order_id) AS orders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FROM orders o JOIN order_details od ON o.order_id=od.order_id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JOIN pizzas p ON od.pizza_id=p.pizza_id GROUP BY month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month, revenue, orders,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ROUND((revenue-LAG(revenue) OVER(ORDER BY month))/LAG(revenue) OVER(ORDER BY month)*100,2) AS revenue_change_pct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monthly_sales;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3. Навантаження: дні тижня та години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Коли піцерія має найбільше навантаження, коли найменше і скільки замовлень припадає на типовий день?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31520" y="18928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176272" y="1901952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176272" y="1901952"/>
            <a:ext cx="2846178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760720" y="18745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58.21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31520" y="220370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Tue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176272" y="2212848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176272" y="2212848"/>
            <a:ext cx="2795327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5760720" y="218541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57.17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1520" y="25146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Wed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2176272" y="2523744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2176272" y="2523744"/>
            <a:ext cx="2843244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760720" y="249631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58.15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31520" y="282549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Thu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2176272" y="2834640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176272" y="2834640"/>
            <a:ext cx="3045670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760720" y="280720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62.29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31520" y="31363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Fri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176272" y="3145536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2176272" y="3145536"/>
            <a:ext cx="3459810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760720" y="311810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70.76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31520" y="344728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Sat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176272" y="3456432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2176272" y="3456432"/>
            <a:ext cx="2969393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760720" y="342900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60.73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31520" y="375818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Sun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176272" y="3767328"/>
            <a:ext cx="35204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2176272" y="3767328"/>
            <a:ext cx="2467242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760720" y="373989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50.46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903720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Ключові часові вікна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903720" y="224028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7059168" y="235000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12:00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229600" y="235000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2,520 замовлень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9802368" y="235000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пік за годиною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903720" y="274320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059168" y="285292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12:00–13:00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229600" y="285292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обідній пік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9802368" y="285292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високе навантаження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903720" y="324612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059168" y="335584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17:00–19:00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229600" y="335584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вечірній пік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9802368" y="33558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високе навантаження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903720" y="374904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FFDFC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059168" y="385876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Thu 13:00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229600" y="385876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438 замовлень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9802368" y="385876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найсильніша комбінація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903720" y="4251960"/>
            <a:ext cx="4114800" cy="393192"/>
          </a:xfrm>
          <a:prstGeom prst="roundRect">
            <a:avLst>
              <a:gd fmla="val 6977" name="adj"/>
            </a:avLst>
          </a:prstGeom>
          <a:solidFill>
            <a:srgbClr val="F0DDD3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7059168" y="436168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20"/>
              <a:buFont typeface="Arial"/>
              <a:buNone/>
            </a:pPr>
            <a:r>
              <a:rPr b="1" lang="en-US" sz="92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22:00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229600" y="436168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тихе вікно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9802368" y="436168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770"/>
              <a:buFont typeface="Arial"/>
              <a:buNone/>
            </a:pPr>
            <a:r>
              <a:rPr lang="en-US" sz="77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особливо наприкінці дня</a:t>
            </a:r>
            <a:endParaRPr sz="7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68680" y="4773168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1033272" y="4882896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Для графіка змін: посилювати команду в п’ятницю та під час обіднього/вечірнього піку; 22:00 — кандидат на мінімальний штат.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13232" y="5285232"/>
            <a:ext cx="10744200" cy="804672"/>
          </a:xfrm>
          <a:prstGeom prst="roundRect">
            <a:avLst>
              <a:gd fmla="val 4545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877824" y="539496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77824" y="5632704"/>
            <a:ext cx="104150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CASE strftime('%w',date) ... END AS weekday,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COUNT(DISTINCT order_id) AS total_orders,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ROUND(COUNT(DISTINCT order_id)*1.0/COUNT(DISTINCT date),2) AS avg_orders_per_day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orders GROUP BY strftime('%w',date);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4. Бестселери та аутсайдери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Які TOP-5 і BOTTOM-5 піц за виручкою та за кількістю продажів? Чи збігаються ці списки?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77240" y="1828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TOP-5 за виручкою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49808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Thai Chicken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194560" y="2240280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2194560" y="2240280"/>
            <a:ext cx="2978721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5276088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$43,434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49808" y="25786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BBQ Chicken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2194560" y="2587752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2194560" y="2587752"/>
            <a:ext cx="2933029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276088" y="25603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$42,768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49808" y="292608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California Chicken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194560" y="2935224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2194560" y="2935224"/>
            <a:ext cx="2839864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5276088" y="290779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$41,410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749808" y="327355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Classic Deluxe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2194560" y="3282696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2194560" y="3282696"/>
            <a:ext cx="2618419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276088" y="325526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$38,181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" y="362102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Spicy Italian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2194560" y="3630168"/>
            <a:ext cx="301752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2194560" y="3630168"/>
            <a:ext cx="2388727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276088" y="360273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$34,831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355080" y="18288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BOTTOM-5 за виручкою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327648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Brie Carre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772400" y="2240280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7772400" y="2240280"/>
            <a:ext cx="2053077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10671048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$11,589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327648" y="25786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Green Garden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772400" y="2587752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7772400" y="2587752"/>
            <a:ext cx="2472470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10671048" y="25603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$13,956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6327648" y="292608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Spinach Supreme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7772400" y="2935224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7772400" y="2935224"/>
            <a:ext cx="2706683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10671048" y="290779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$15,278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327648" y="327355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Mediterranean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772400" y="3282696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7772400" y="3282696"/>
            <a:ext cx="2721343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10671048" y="325526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$15,361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327648" y="362102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Spinach Pesto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772400" y="3630168"/>
            <a:ext cx="283464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7772400" y="3630168"/>
            <a:ext cx="2762888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10671048" y="360273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$15,595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41248" y="4251960"/>
            <a:ext cx="10442448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1005840" y="4361688"/>
            <a:ext cx="10113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Перетин TOP-5 за виручкою і кількістю: Thai Chicken, BBQ Chicken, Classic Deluxe. Найслабша за обома показниками — The Brie Carre Pizza.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713232" y="4828032"/>
            <a:ext cx="10744200" cy="1207008"/>
          </a:xfrm>
          <a:prstGeom prst="roundRect">
            <a:avLst>
              <a:gd fmla="val 3030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877824" y="4937760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877824" y="5175504"/>
            <a:ext cx="1041501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pizza_sales AS (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SELECT pt.name AS pizza_name, SUM(od.quantity) AS pizzas_sold,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  SUM(p.price*od.quantity) AS revenue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FROM order_details od JOIN pizzas p ON od.pizza_id=p.pizza_id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JOIN pizza_types pt ON p.pizza_type_id=pt.pizza_type_id GROUP BY pt.name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pizza_sales ORDER BY revenue DESC LIMIT 5;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5. Структура виручки: категорії та розміри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Яка частка виручки кожної категорії та кожного розміру? Які розміри продаються найкраще?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49808" y="182880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Категорії — виручка розподілена майже рівномірно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77240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Classic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2221992" y="224028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2221992" y="2240280"/>
            <a:ext cx="2592471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4983480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26.91%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777240" y="264261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Supreme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221992" y="265176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2221992" y="2651760"/>
            <a:ext cx="2452780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4983480" y="262432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25.46%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777240" y="305409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Chicken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221992" y="306324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2221992" y="3063240"/>
            <a:ext cx="2308272" cy="128016"/>
          </a:xfrm>
          <a:prstGeom prst="roundRect">
            <a:avLst>
              <a:gd fmla="val 35714" name="adj"/>
            </a:avLst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4983480" y="303580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23.96%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777240" y="346557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Veggie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2221992" y="3474720"/>
            <a:ext cx="269748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2221992" y="3474720"/>
            <a:ext cx="2281297" cy="128016"/>
          </a:xfrm>
          <a:prstGeom prst="roundRect">
            <a:avLst>
              <a:gd fmla="val 35714" name="adj"/>
            </a:avLst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4983480" y="344728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23.68%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355080" y="18288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450"/>
              <a:buFont typeface="Georgia"/>
              <a:buNone/>
            </a:pPr>
            <a:r>
              <a:rPr b="1" lang="en-US" sz="145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Розміри — L домінує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355080" y="22311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799832" y="2240280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7799832" y="2240280"/>
            <a:ext cx="2517709" cy="128016"/>
          </a:xfrm>
          <a:prstGeom prst="roundRect">
            <a:avLst>
              <a:gd fmla="val 35714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10607040" y="221284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45.89%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355080" y="25786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799832" y="2587752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7799832" y="2587752"/>
            <a:ext cx="1672803" cy="128016"/>
          </a:xfrm>
          <a:prstGeom prst="roundRect">
            <a:avLst>
              <a:gd fmla="val 35714" name="adj"/>
            </a:avLst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10607040" y="2560320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30.49%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355080" y="292608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7799832" y="2935224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7799832" y="2935224"/>
            <a:ext cx="1194389" cy="128016"/>
          </a:xfrm>
          <a:prstGeom prst="roundRect">
            <a:avLst>
              <a:gd fmla="val 35714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10607040" y="2907792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21.77%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355080" y="327355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XL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7799832" y="3282696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7799832" y="3282696"/>
            <a:ext cx="94366" cy="128016"/>
          </a:xfrm>
          <a:prstGeom prst="roundRect">
            <a:avLst>
              <a:gd fmla="val 48450" name="adj"/>
            </a:avLst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10607040" y="3255264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1.72%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355080" y="362102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XXL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7799832" y="3630168"/>
            <a:ext cx="2743200" cy="128016"/>
          </a:xfrm>
          <a:prstGeom prst="roundRect">
            <a:avLst>
              <a:gd fmla="val 35714" name="adj"/>
            </a:avLst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7799832" y="3630168"/>
            <a:ext cx="6584" cy="128016"/>
          </a:xfrm>
          <a:prstGeom prst="roundRect">
            <a:avLst>
              <a:gd fmla="val 694411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10607040" y="3602736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0.12%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850392" y="4352544"/>
            <a:ext cx="1042416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1014984" y="4462272"/>
            <a:ext cx="100949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Розмір L — 18,956 проданих піц і 45.89% виручки ($375,318.70). XL та XXL разом дають менше 2% виручки.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13232" y="4901184"/>
            <a:ext cx="10744200" cy="1115568"/>
          </a:xfrm>
          <a:prstGeom prst="roundRect">
            <a:avLst>
              <a:gd fmla="val 3279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877824" y="501091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877824" y="5248656"/>
            <a:ext cx="1041501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category_sales AS (...)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category, ROUND(revenue,2),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ROUND(revenue/(SELECT SUM(revenue) FROM category_sales)*100,2) AS revenue_share_pct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category_sales ORDER BY revenue DESC;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6. Кандидати на скорочення меню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6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Які 3–5 позицій мають найслабші продажі та найменшу частку виручки, і скільки виручки це зачепить?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77240" y="1828800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932688" y="1938528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1. The Brie Carre Pizza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5715000" y="1938528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lang="en-US" sz="930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$11,588.50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77240" y="2313432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932688" y="2423160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2. The Green Garden Pizza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715000" y="2423160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lang="en-US" sz="930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$13,955.75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77240" y="2798064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932688" y="2907792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3. The Spinach Supreme Pizza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715000" y="2907792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lang="en-US" sz="930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$15,277.75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777240" y="3282696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932688" y="3392424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4. The Mediterranean Pizza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715000" y="3392424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lang="en-US" sz="930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$15,360.50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77240" y="3767328"/>
            <a:ext cx="6583680" cy="38404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932688" y="3877056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30"/>
              <a:buFont typeface="Arial"/>
              <a:buNone/>
            </a:pPr>
            <a:r>
              <a:rPr lang="en-US" sz="93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5. The Spinach Pesto Pizza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715000" y="3877056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79A7"/>
              </a:buClr>
              <a:buSzPts val="930"/>
              <a:buFont typeface="Arial"/>
              <a:buNone/>
            </a:pPr>
            <a:r>
              <a:rPr b="1" lang="en-US" sz="930">
                <a:solidFill>
                  <a:srgbClr val="4E79A7"/>
                </a:solidFill>
                <a:latin typeface="Arial"/>
                <a:ea typeface="Arial"/>
                <a:cs typeface="Arial"/>
                <a:sym typeface="Arial"/>
              </a:rPr>
              <a:t>$15,595.00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909560" y="1938528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7909560" y="1938528"/>
            <a:ext cx="73152" cy="114300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8074152" y="2084832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Разом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8074152" y="2395728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$71,778.50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8074152" y="2770632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5 позицій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7909560" y="3401568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7909560" y="3401568"/>
            <a:ext cx="73152" cy="1143000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8074152" y="3547872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Частка виручки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8074152" y="3858768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8.78%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8074152" y="4233672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загальної виручки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868680" y="4631430"/>
            <a:ext cx="10378500" cy="438900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1033272" y="486460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Не вилучати автоматично: перед рішенням перевірити margin / food cost та унікальність інгредієнтів.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13225" y="5157176"/>
            <a:ext cx="10744200" cy="951000"/>
          </a:xfrm>
          <a:prstGeom prst="roundRect">
            <a:avLst>
              <a:gd fmla="val 4444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877825" y="5267048"/>
            <a:ext cx="41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877825" y="5468349"/>
            <a:ext cx="10415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WITH pizza_sales AS (...), bottom_5 AS (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SELECT * FROM pizza_sales ORDER BY revenue ASC, pizzas_sold ASC LIMIT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pizza_name, pizzas_sold, ROUND(revenue,2),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ROUND(SUM(revenue) OVER(),2) AS bottom_5_total_revenue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bottom_5;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7. Великі замовлення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7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Яка частка замовлень містить 4 і більше піц і скільки виручки вони дають? Чи потрібна окрема пропозиція для компаній?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822960" y="1901952"/>
            <a:ext cx="297180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822960" y="1901952"/>
            <a:ext cx="73152" cy="118872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987552" y="2048256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4+ піц — частка замовлень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87552" y="2359152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18.17%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987552" y="2779776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3,880 із 21,350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4206240" y="1901952"/>
            <a:ext cx="297180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4206240" y="1901952"/>
            <a:ext cx="73152" cy="1188720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4370832" y="2048256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4+ піц — виручка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370832" y="2359152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$322,570.90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4370832" y="2779776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39.44% загальної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7589520" y="1901952"/>
            <a:ext cx="2971800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7589520" y="1901952"/>
            <a:ext cx="73152" cy="1188720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7754112" y="2048256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1–3 піци — виручка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7754112" y="2359152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$495,289.15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7754112" y="2779776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60.56% загальної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1005840" y="358444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Частка замовлень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1005840" y="3913632"/>
            <a:ext cx="8961120" cy="310896"/>
          </a:xfrm>
          <a:prstGeom prst="rect">
            <a:avLst/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1005840" y="3913632"/>
            <a:ext cx="1627632" cy="310896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1353312" y="3986784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18.17%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1005840" y="44074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Частка виручки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005840" y="4736592"/>
            <a:ext cx="8961120" cy="310896"/>
          </a:xfrm>
          <a:prstGeom prst="rect">
            <a:avLst/>
          </a:prstGeom>
          <a:solidFill>
            <a:srgbClr val="E5EDF4"/>
          </a:solidFill>
          <a:ln cap="flat" cmpd="sng" w="12700">
            <a:solidFill>
              <a:srgbClr val="E5ED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1005840" y="4736592"/>
            <a:ext cx="3529584" cy="310896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2148840" y="4809744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39.44%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68680" y="5285232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1033272" y="5394960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Корпоративні набори / бонус для замовлень від 4 піц варто тестувати: великі замовлення дають непропорційно високу частку виручки.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2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8. Промоакція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21792" y="1124712"/>
            <a:ext cx="960120" cy="310896"/>
          </a:xfrm>
          <a:prstGeom prst="roundRect">
            <a:avLst>
              <a:gd fmla="val 20588" name="adj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685800" y="1188720"/>
            <a:ext cx="8321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Питання 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1737360" y="1078992"/>
            <a:ext cx="9692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У який день і годину тестувати акцію та який потенціал дає сценарій +10% до виручки?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868680" y="1828800"/>
            <a:ext cx="1965960" cy="310896"/>
          </a:xfrm>
          <a:prstGeom prst="roundRect">
            <a:avLst>
              <a:gd fmla="val 20588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932688" y="1892808"/>
            <a:ext cx="18379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Monday · 22:00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868680" y="2331720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868680" y="2331720"/>
            <a:ext cx="73152" cy="1143000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1033272" y="2478024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Поточна виручка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1033272" y="278892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$1,869.05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1033272" y="3163824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53 замовлення за рік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251960" y="2331720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4251960" y="2331720"/>
            <a:ext cx="73152" cy="1143000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4416552" y="2478024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Сценарний приріст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416552" y="278892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+$186.91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416552" y="3163824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+10%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7635240" y="2331720"/>
            <a:ext cx="29718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7635240" y="2331720"/>
            <a:ext cx="73152" cy="1143000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7799832" y="2478024"/>
            <a:ext cx="27157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Потенційна виручка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7799832" y="278892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$2,055.96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7799832" y="3163824"/>
            <a:ext cx="2715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після +10%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868680" y="385876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Тестова механіка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868680" y="4279392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Акція в понеділок о 22:00 для стимулювання слабкого вікна. Ефект +10% — лише сценарій; фактичний результат треба виміряти тестом.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713232" y="4892040"/>
            <a:ext cx="10744200" cy="1170432"/>
          </a:xfrm>
          <a:prstGeom prst="roundRect">
            <a:avLst>
              <a:gd fmla="val 3125" name="adj"/>
            </a:avLst>
          </a:prstGeom>
          <a:solidFill>
            <a:srgbClr val="233748"/>
          </a:solidFill>
          <a:ln cap="flat" cmpd="sng" w="12700">
            <a:solidFill>
              <a:srgbClr val="23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877824" y="5001768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7D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AFC7DB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877824" y="5239512"/>
            <a:ext cx="10415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SELECT weekday, hour, COUNT(DISTINCT o.order_id) AS orders,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ROUND(SUM(p.price*od.quantity),2) AS current_revenue,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ROUND(SUM(p.price*od.quantity)*0.10,2) AS additional_revenue_10pct,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       ROUND(SUM(p.price*od.quantity)*1.10,2) AS potential_revenue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FROM ... WHERE CAST(strftime('%H',o.time) AS INTEGER) BETWEEN 11 AND 22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720"/>
              <a:buFont typeface="Courier New"/>
              <a:buNone/>
            </a:pPr>
            <a:r>
              <a:rPr lang="en-US" sz="720">
                <a:solidFill>
                  <a:srgbClr val="F7FAFC"/>
                </a:solidFill>
                <a:latin typeface="Courier New"/>
                <a:ea typeface="Courier New"/>
                <a:cs typeface="Courier New"/>
                <a:sym typeface="Courier New"/>
              </a:rPr>
              <a:t>GROUP BY weekday, hour ORDER BY current_revenue ASC LIMIT 10;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3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Tableau Dashboard 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Загальна картина продажів: KPI, сезонність, пікові години, рейтинги та структура виручки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48640" y="1170432"/>
            <a:ext cx="6446520" cy="5230368"/>
          </a:xfrm>
          <a:prstGeom prst="roundRect">
            <a:avLst>
              <a:gd fmla="val 699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izza Sales Analysis — 2015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280160"/>
            <a:ext cx="6217920" cy="501091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/>
          <p:nvPr/>
        </p:nvSpPr>
        <p:spPr>
          <a:xfrm>
            <a:off x="7242048" y="1325880"/>
            <a:ext cx="4279392" cy="1152144"/>
          </a:xfrm>
          <a:prstGeom prst="roundRect">
            <a:avLst>
              <a:gd fmla="val 3175" name="adj"/>
            </a:avLst>
          </a:prstGeom>
          <a:solidFill>
            <a:srgbClr val="EDF4F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7498080" y="153619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25D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F425D"/>
                </a:solidFill>
                <a:latin typeface="Georgia"/>
                <a:ea typeface="Georgia"/>
                <a:cs typeface="Georgia"/>
                <a:sym typeface="Georgia"/>
              </a:rPr>
              <a:t>Що показує дашборд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7498080" y="1901952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KPI • місячна динаміка • heatmap • TOP/BOTTOM-5 • структура виручки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7242048" y="2788920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3"/>
          <p:cNvSpPr/>
          <p:nvPr/>
        </p:nvSpPr>
        <p:spPr>
          <a:xfrm>
            <a:off x="7242048" y="2788920"/>
            <a:ext cx="73152" cy="98755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7406640" y="2935224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Виручка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7406640" y="3246120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$817,860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9400032" y="2788920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9400032" y="2788920"/>
            <a:ext cx="73152" cy="987552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9564624" y="2935224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Замовлення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9564624" y="3246120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21,350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7242048" y="4041648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7242048" y="4041648"/>
            <a:ext cx="73152" cy="98755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7406640" y="4187952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Пік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7406640" y="4498848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Friday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7406640" y="4718304"/>
            <a:ext cx="1664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70.76 / день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9400032" y="4041648"/>
            <a:ext cx="1920240" cy="987552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9400032" y="4041648"/>
            <a:ext cx="73152" cy="987552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9564624" y="4187952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Найслабший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9564624" y="4498848"/>
            <a:ext cx="16642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October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9564624" y="4718304"/>
            <a:ext cx="16642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$64,027.60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7242048" y="5376672"/>
            <a:ext cx="4078224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7406640" y="548640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Інтерактивні фільтри: Month • Category • Size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3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Tableau Dashboard 2 — Business Recommendations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Друга сторінка дашборду переводить аналіз у конкретні рішення для меню, великих замовлень і промо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548640" y="1170432"/>
            <a:ext cx="5806440" cy="5230368"/>
          </a:xfrm>
          <a:prstGeom prst="roundRect">
            <a:avLst>
              <a:gd fmla="val 699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Business Recommendations.png" id="500" name="Google Shape;5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280160"/>
            <a:ext cx="5577840" cy="5010912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4"/>
          <p:cNvSpPr/>
          <p:nvPr/>
        </p:nvSpPr>
        <p:spPr>
          <a:xfrm>
            <a:off x="6629400" y="1325880"/>
            <a:ext cx="4892040" cy="1078992"/>
          </a:xfrm>
          <a:prstGeom prst="roundRect">
            <a:avLst>
              <a:gd fmla="val 3390" name="adj"/>
            </a:avLst>
          </a:prstGeom>
          <a:solidFill>
            <a:srgbClr val="EDF4F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"/>
          <p:cNvSpPr/>
          <p:nvPr/>
        </p:nvSpPr>
        <p:spPr>
          <a:xfrm>
            <a:off x="6903720" y="1536192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25D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F425D"/>
                </a:solidFill>
                <a:latin typeface="Georgia"/>
                <a:ea typeface="Georgia"/>
                <a:cs typeface="Georgia"/>
                <a:sym typeface="Georgia"/>
              </a:rPr>
              <a:t>Рішення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6903720" y="1865376"/>
            <a:ext cx="4160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Меню • великі замовлення • тест промо у слабкому часовому вікні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6629400" y="269748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6629400" y="2697480"/>
            <a:ext cx="73152" cy="1024128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6793992" y="2843784"/>
            <a:ext cx="1984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5 слабких піц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794000" y="3072376"/>
            <a:ext cx="198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8.78%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6793992" y="3410712"/>
            <a:ext cx="198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частка виручки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9189720" y="269748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9189720" y="2697480"/>
            <a:ext cx="73152" cy="1024128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9354312" y="2843784"/>
            <a:ext cx="1984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4+ піц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354300" y="3044950"/>
            <a:ext cx="198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39.44%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9354312" y="3410712"/>
            <a:ext cx="198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частка виручки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6629400" y="397764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6629400" y="3977640"/>
            <a:ext cx="73152" cy="1024128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6793992" y="4123944"/>
            <a:ext cx="1984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Monday 22:00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6794000" y="4254225"/>
            <a:ext cx="19842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$1,869.05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6793992" y="4690872"/>
            <a:ext cx="198424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поточна виручка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9189720" y="3977640"/>
            <a:ext cx="2240280" cy="1024128"/>
          </a:xfrm>
          <a:prstGeom prst="roundRect">
            <a:avLst>
              <a:gd fmla="val 5357" name="adj"/>
            </a:avLst>
          </a:prstGeom>
          <a:solidFill>
            <a:srgbClr val="FFFFFF"/>
          </a:solidFill>
          <a:ln cap="flat" cmpd="sng" w="1395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9189720" y="3977640"/>
            <a:ext cx="73152" cy="1024128"/>
          </a:xfrm>
          <a:prstGeom prst="rect">
            <a:avLst/>
          </a:prstGeom>
          <a:solidFill>
            <a:srgbClr val="1F425D"/>
          </a:solidFill>
          <a:ln cap="flat" cmpd="sng" w="12700">
            <a:solidFill>
              <a:srgbClr val="1F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9354300" y="4023450"/>
            <a:ext cx="19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Сценарій +10%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9354300" y="4242750"/>
            <a:ext cx="198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$2,055.96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9336062" y="4690810"/>
            <a:ext cx="1984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потенційна виручка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629400" y="5376672"/>
            <a:ext cx="4800600" cy="438912"/>
          </a:xfrm>
          <a:prstGeom prst="roundRect">
            <a:avLst>
              <a:gd fmla="val 10417" name="adj"/>
            </a:avLst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6793992" y="5486400"/>
            <a:ext cx="44714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Дашборд переводить аналіз у три конкретні бізнес-рішення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4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5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Ключові інсайти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Три результати, які найбільше впливають на рішення власниці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822960" y="1636776"/>
            <a:ext cx="566928" cy="566928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822960" y="181051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1691640" y="150876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Пік попиту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1691640" y="194767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П’ятниця — 70.76 замовлення/день; основні піки 12:00–13:00 та 17:00–19:00.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822960" y="3054096"/>
            <a:ext cx="566928" cy="566928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822960" y="32278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1691640" y="292608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Меню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1691640" y="336499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5 слабких позицій разом дають 8.78% виручки — їх варто перевірити на маржинальність і склад інгредієнтів.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822960" y="4471416"/>
            <a:ext cx="566928" cy="566928"/>
          </a:xfrm>
          <a:prstGeom prst="ellipse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822960" y="464515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1691640" y="434340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Великі замовлення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1691640" y="4782312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Лише 18.17% замовлень дають 39.44% виручки, якщо в них 4+ піц.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868680" y="571500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1033272" y="582472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Усі три інсайти напряму відповідають на рішення Лаури: staffing → menu → promo / corporate offers.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5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Рекомендації Лаурі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612648" y="8229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E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C8E"/>
                </a:solidFill>
                <a:latin typeface="Arial"/>
                <a:ea typeface="Arial"/>
                <a:cs typeface="Arial"/>
                <a:sym typeface="Arial"/>
              </a:rPr>
              <a:t>Кожна рекомендація спирається на конкретну цифру з аналізу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777240" y="1417320"/>
            <a:ext cx="10652760" cy="1170432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6"/>
          <p:cNvSpPr/>
          <p:nvPr/>
        </p:nvSpPr>
        <p:spPr>
          <a:xfrm>
            <a:off x="777240" y="1417320"/>
            <a:ext cx="109728" cy="117043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1078992" y="156362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Графік змін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3429000" y="1536192"/>
            <a:ext cx="5166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Підсилити персонал у п’ятницю та в піки 12:00–13:00 / 17:00–19:00; розглянути мінімальний склад близько 22:00.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8915400" y="1581912"/>
            <a:ext cx="2148840" cy="713232"/>
          </a:xfrm>
          <a:prstGeom prst="roundRect">
            <a:avLst>
              <a:gd fmla="val 3846" name="adj"/>
            </a:avLst>
          </a:prstGeom>
          <a:solidFill>
            <a:srgbClr val="EDF4F8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6"/>
          <p:cNvSpPr/>
          <p:nvPr/>
        </p:nvSpPr>
        <p:spPr>
          <a:xfrm>
            <a:off x="9079992" y="1737360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70.76 замовлення/день у п’ятницю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777240" y="2898648"/>
            <a:ext cx="10652760" cy="1170432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6"/>
          <p:cNvSpPr/>
          <p:nvPr/>
        </p:nvSpPr>
        <p:spPr>
          <a:xfrm>
            <a:off x="777240" y="2898648"/>
            <a:ext cx="109728" cy="117043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1078992" y="304495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Меню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3429000" y="3017520"/>
            <a:ext cx="5166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Переглянути 5 слабких піц, але остаточно прибирати лише після перевірки margin, food cost і унікальності інгредієнтів.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8915400" y="3063240"/>
            <a:ext cx="2148840" cy="713232"/>
          </a:xfrm>
          <a:prstGeom prst="roundRect">
            <a:avLst>
              <a:gd fmla="val 3846" name="adj"/>
            </a:avLst>
          </a:prstGeom>
          <a:solidFill>
            <a:srgbClr val="EDF4F8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9079992" y="3218688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8.78% виручки разом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777240" y="4379976"/>
            <a:ext cx="10652760" cy="1170432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777240" y="4379976"/>
            <a:ext cx="109728" cy="1170432"/>
          </a:xfrm>
          <a:prstGeom prst="rect">
            <a:avLst/>
          </a:prstGeom>
          <a:solidFill>
            <a:srgbClr val="8FB3CF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1078992" y="45262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Промо + компанії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3429000" y="4498848"/>
            <a:ext cx="5166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Тестувати промо Monday 22:00 і окрему пропозицію для замовлень від 4 піц.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8915400" y="4544568"/>
            <a:ext cx="2148840" cy="713232"/>
          </a:xfrm>
          <a:prstGeom prst="roundRect">
            <a:avLst>
              <a:gd fmla="val 3846" name="adj"/>
            </a:avLst>
          </a:prstGeom>
          <a:solidFill>
            <a:srgbClr val="EDF4F8"/>
          </a:solidFill>
          <a:ln cap="flat" cmpd="sng" w="12700">
            <a:solidFill>
              <a:srgbClr val="8FB3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9079992" y="4700016"/>
            <a:ext cx="182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94E6B"/>
                </a:solidFill>
                <a:latin typeface="Arial"/>
                <a:ea typeface="Arial"/>
                <a:cs typeface="Arial"/>
                <a:sym typeface="Arial"/>
              </a:rPr>
              <a:t>+10% = +$186.91; 4+ піц → 39.44% виручки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7"/>
          <p:cNvSpPr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4E6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294E6B"/>
                </a:solidFill>
                <a:latin typeface="Georgia"/>
                <a:ea typeface="Georgia"/>
                <a:cs typeface="Georgia"/>
                <a:sym typeface="Georgia"/>
              </a:rPr>
              <a:t>Обмеження даних і наступні кроки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777240" y="1508760"/>
            <a:ext cx="5120640" cy="3977640"/>
          </a:xfrm>
          <a:prstGeom prst="roundRect">
            <a:avLst>
              <a:gd fmla="val 920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777240" y="1508760"/>
            <a:ext cx="5120640" cy="438912"/>
          </a:xfrm>
          <a:prstGeom prst="rect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7"/>
          <p:cNvSpPr/>
          <p:nvPr/>
        </p:nvSpPr>
        <p:spPr>
          <a:xfrm>
            <a:off x="941832" y="163677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Обмеження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1033272" y="2267712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/>
          <p:nvPr/>
        </p:nvSpPr>
        <p:spPr>
          <a:xfrm>
            <a:off x="1344168" y="221284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Лише один рік даних — 2015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1033272" y="2980944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1344168" y="29260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Немає food cost, margin та прибутку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1033272" y="3694176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1344168" y="363931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Немає даних про штат і фактичні години змін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1033272" y="4407408"/>
            <a:ext cx="182880" cy="182880"/>
          </a:xfrm>
          <a:prstGeom prst="ellipse">
            <a:avLst/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/>
          <p:nvPr/>
        </p:nvSpPr>
        <p:spPr>
          <a:xfrm>
            <a:off x="1344168" y="4352544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+10% для промо — сценарій, не A/B-тест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6172200" y="1508760"/>
            <a:ext cx="5120640" cy="3977640"/>
          </a:xfrm>
          <a:prstGeom prst="roundRect">
            <a:avLst>
              <a:gd fmla="val 920" name="adj"/>
            </a:avLst>
          </a:prstGeom>
          <a:solidFill>
            <a:srgbClr val="FFFFFF"/>
          </a:solidFill>
          <a:ln cap="flat" cmpd="sng" w="12700">
            <a:solidFill>
              <a:srgbClr val="D7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6172200" y="1508760"/>
            <a:ext cx="5120640" cy="438912"/>
          </a:xfrm>
          <a:prstGeom prst="rect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6336792" y="1636776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Наступні кроки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6428232" y="2267712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7"/>
          <p:cNvSpPr/>
          <p:nvPr/>
        </p:nvSpPr>
        <p:spPr>
          <a:xfrm>
            <a:off x="6739128" y="2212848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Додати margin / food cost по піцах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6428232" y="2980944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6739128" y="2926080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Перевірити унікальні інгредієнти слабких позицій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6428232" y="3694176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7"/>
          <p:cNvSpPr/>
          <p:nvPr/>
        </p:nvSpPr>
        <p:spPr>
          <a:xfrm>
            <a:off x="6739128" y="3639312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Провести тест промо Monday 22:00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6428232" y="4407408"/>
            <a:ext cx="182880" cy="182880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6739128" y="4352544"/>
            <a:ext cx="4160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746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263746"/>
                </a:solidFill>
                <a:latin typeface="Arial"/>
                <a:ea typeface="Arial"/>
                <a:cs typeface="Arial"/>
                <a:sym typeface="Arial"/>
              </a:rPr>
              <a:t>Порівняти staffing із реальним навантаженням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868680" y="5715000"/>
            <a:ext cx="10378440" cy="438912"/>
          </a:xfrm>
          <a:prstGeom prst="roundRect">
            <a:avLst>
              <a:gd fmla="val 10417" name="adj"/>
            </a:avLst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1033272" y="5824728"/>
            <a:ext cx="10049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Головне: рекомендації базуються на продажах і виручці, але фінальні операційні рішення потребують даних про витрати та персонал.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7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"/>
          <p:cNvSpPr/>
          <p:nvPr/>
        </p:nvSpPr>
        <p:spPr>
          <a:xfrm>
            <a:off x="731520" y="68580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7FAFC"/>
                </a:solidFill>
                <a:latin typeface="Georgia"/>
                <a:ea typeface="Georgia"/>
                <a:cs typeface="Georgia"/>
                <a:sym typeface="Georgia"/>
              </a:rPr>
              <a:t>Дякую!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749808" y="1417320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D1E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B7D1E4"/>
                </a:solidFill>
                <a:latin typeface="Arial"/>
                <a:ea typeface="Arial"/>
                <a:cs typeface="Arial"/>
                <a:sym typeface="Arial"/>
              </a:rPr>
              <a:t>Pizza Sales Analysis — 2015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777240" y="2057400"/>
            <a:ext cx="5029200" cy="2651760"/>
          </a:xfrm>
          <a:prstGeom prst="roundRect">
            <a:avLst>
              <a:gd fmla="val 1724" name="adj"/>
            </a:avLst>
          </a:prstGeom>
          <a:solidFill>
            <a:srgbClr val="365D79"/>
          </a:solidFill>
          <a:ln cap="flat" cmpd="sng" w="12700">
            <a:solidFill>
              <a:srgbClr val="5E86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8"/>
          <p:cNvSpPr/>
          <p:nvPr/>
        </p:nvSpPr>
        <p:spPr>
          <a:xfrm>
            <a:off x="1024128" y="2331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F7FAFC"/>
                </a:solidFill>
                <a:latin typeface="Georgia"/>
                <a:ea typeface="Georgia"/>
                <a:cs typeface="Georgia"/>
                <a:sym typeface="Georgia"/>
              </a:rPr>
              <a:t>Посилання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1024125" y="2697475"/>
            <a:ext cx="4697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7FAFC"/>
                </a:solidFill>
              </a:rPr>
              <a:t>Датасет: https://www.kaggle.com/datasets/mysarahmadbhat/pizza-place-sales</a:t>
            </a:r>
            <a:endParaRPr sz="1100">
              <a:solidFill>
                <a:srgbClr val="F7FAF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Tableau Public: </a:t>
            </a:r>
            <a:r>
              <a:rPr lang="en-US" sz="1100">
                <a:solidFill>
                  <a:srgbClr val="F7FAFC"/>
                </a:solidFill>
              </a:rPr>
              <a:t>https://public.tableau.com/views/pizza_dashboard_17910344805020/PizzaSalesAnalysis2015?:language=en-US&amp;:sid=&amp;:redirect=auth&amp;:display_count=n&amp;:origin=viz_share_link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7818120" y="1554480"/>
            <a:ext cx="2423160" cy="2423160"/>
          </a:xfrm>
          <a:prstGeom prst="ellipse">
            <a:avLst/>
          </a:prstGeom>
          <a:solidFill>
            <a:srgbClr val="D9E8F3"/>
          </a:solidFill>
          <a:ln cap="flat" cmpd="sng" w="12700">
            <a:solidFill>
              <a:srgbClr val="D9E8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8"/>
          <p:cNvSpPr/>
          <p:nvPr/>
        </p:nvSpPr>
        <p:spPr>
          <a:xfrm>
            <a:off x="8065008" y="1801368"/>
            <a:ext cx="1938528" cy="1938528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4E79A7"/>
          </a:solidFill>
          <a:ln cap="flat" cmpd="sng" w="12700">
            <a:solidFill>
              <a:srgbClr val="4E7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8549640" y="2084832"/>
            <a:ext cx="164592" cy="164592"/>
          </a:xfrm>
          <a:prstGeom prst="ellipse">
            <a:avLst/>
          </a:prstGeom>
          <a:solidFill>
            <a:srgbClr val="6C8EAD"/>
          </a:solidFill>
          <a:ln cap="flat" cmpd="sng" w="12700">
            <a:solidFill>
              <a:srgbClr val="6C8E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9189720" y="2697480"/>
            <a:ext cx="164592" cy="164592"/>
          </a:xfrm>
          <a:prstGeom prst="ellipse">
            <a:avLst/>
          </a:prstGeom>
          <a:solidFill>
            <a:srgbClr val="294E6B"/>
          </a:solidFill>
          <a:ln cap="flat" cmpd="sng" w="12700">
            <a:solidFill>
              <a:srgbClr val="29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7699248" y="43434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7FAFC"/>
                </a:solidFill>
                <a:latin typeface="Georgia"/>
                <a:ea typeface="Georgia"/>
                <a:cs typeface="Georgia"/>
                <a:sym typeface="Georgia"/>
              </a:rPr>
              <a:t>Питання?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8"/>
          <p:cNvSpPr txBox="1"/>
          <p:nvPr>
            <p:ph idx="4294967295" type="sldNum"/>
          </p:nvPr>
        </p:nvSpPr>
        <p:spPr>
          <a:xfrm>
            <a:off x="11338560" y="649224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730">
                <a:solidFill>
                  <a:srgbClr val="71809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30">
              <a:solidFill>
                <a:srgbClr val="7180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2026-10-02T09:03:16Z</dcterms:created>
  <dc:creator>OpenAI</dc:creator>
</cp:coreProperties>
</file>