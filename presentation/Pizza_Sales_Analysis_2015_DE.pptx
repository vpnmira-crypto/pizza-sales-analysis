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Qh3x3qnHRKS/MUIBC4imudN8C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2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0"/>
          <p:cNvSpPr/>
          <p:nvPr/>
        </p:nvSpPr>
        <p:spPr>
          <a:xfrm>
            <a:off x="566928" y="6510528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Pizza Sales Analysis — 2015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" y="1325880"/>
            <a:ext cx="2240280" cy="2240280"/>
          </a:xfrm>
          <a:prstGeom prst="ellipse">
            <a:avLst/>
          </a:prstGeom>
          <a:solidFill>
            <a:srgbClr val="D9E8F3"/>
          </a:solidFill>
          <a:ln cap="flat" cmpd="sng" w="12700">
            <a:solidFill>
              <a:srgbClr val="D9E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60120" y="1508760"/>
            <a:ext cx="1874520" cy="1874520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298448" y="1901952"/>
            <a:ext cx="155448" cy="155448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938528" y="2322576"/>
            <a:ext cx="164592" cy="164592"/>
          </a:xfrm>
          <a:prstGeom prst="ellipse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434840" y="1325880"/>
            <a:ext cx="6217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PIZZA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SALES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80560" y="296265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Pizzeria-Verkäufe im Jahr 2015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480560" y="3520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SQL • Tableau • Geschäftsempfehlungen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480560" y="54406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Deutsche Tech Akademie · Data Analytics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480560" y="58064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Autorin: M. Ivanova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</a:t>
            </a:r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Geschäftssituation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Drei Entscheidungen der neuen Besitzerin auf Basis der Verkaufsdaten von 2015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300"/>
              <a:buFont typeface="Arial"/>
              <a:buNone/>
            </a:pPr>
            <a:r>
              <a:rPr b="0" i="0" lang="en-US" sz="1144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Laura Martinez hat die Bestellhistorie für ein Jahr erhalten und möchte daraus drei praktische Entscheidungen ableiten.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41832" y="2340864"/>
            <a:ext cx="502920" cy="50292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4183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408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Schichtplanung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7840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Wann wird mehr Personal benötigt und wann ist die Auslastung niedrig?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36592" y="2340864"/>
            <a:ext cx="502920" cy="50292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3659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9496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Menü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7316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88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Welche 3–5 Produkte könnten mit geringem Einfluss auf den Umsatz überprüft werden?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36676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531352" y="2340864"/>
            <a:ext cx="502920" cy="502920"/>
          </a:xfrm>
          <a:prstGeom prst="ellipse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53135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8972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408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Werbeaktion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56792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88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An welchem Tag und zu welcher Uhrzeit sollte eine Aktion für ein schwaches Zeitfenster getestet werden?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68680" y="48006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33272" y="49103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Fokus der Präsentation: konkrete Zahlen → Erkenntnis → Entscheidung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2</a:t>
            </a:r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Daten und ER-Diagramm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 verbundene Tabellen → geprüfte Schlüssel und Beziehungen → sales_lines für Tableau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66928" y="1188720"/>
            <a:ext cx="7543800" cy="4892040"/>
          </a:xfrm>
          <a:prstGeom prst="roundRect">
            <a:avLst>
              <a:gd fmla="val 748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394192" y="1353312"/>
            <a:ext cx="3063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94192" y="1353312"/>
            <a:ext cx="73152" cy="107899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558784" y="1499616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Zeitraum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558784" y="1810512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2015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558784" y="2212848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ganzes Jahr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394192" y="2679192"/>
            <a:ext cx="3063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394192" y="2679192"/>
            <a:ext cx="73152" cy="107899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558784" y="2825496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sales_lines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558775" y="3008350"/>
            <a:ext cx="28071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48 620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558784" y="3447288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Zeilen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394192" y="4005072"/>
            <a:ext cx="3063240" cy="1417320"/>
          </a:xfrm>
          <a:prstGeom prst="roundRect">
            <a:avLst>
              <a:gd fmla="val 2581" name="adj"/>
            </a:avLst>
          </a:prstGeom>
          <a:solidFill>
            <a:srgbClr val="EDF4F8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622792" y="41879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Beziehungslogik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22792" y="45537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orders 1:N order_details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order_details N:1 pizzas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pizzas N:1 pizza_types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394192" y="560527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1F425D"/>
                </a:solidFill>
                <a:latin typeface="Arial"/>
                <a:ea typeface="Arial"/>
                <a:cs typeface="Arial"/>
                <a:sym typeface="Arial"/>
              </a:rPr>
              <a:t>Eine Zeile in sales_lines = eine Bestellposition.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3</a:t>
            </a:r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Picture 82" descr="pizza_er_diagram_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371600"/>
            <a:ext cx="6903720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Datenbereinigung und Vorbereitung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836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Was vor den Berechnungen geprüft wurde und wie die Datenquelle für Tableau vorbereitet wurde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9436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6C8EAD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33277" y="1824152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48131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Prüfung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6128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Zeilen, NULL, Formate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4E79A7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931912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37997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04164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4 Tabellen korrekt verknüpft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5508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8FB3CF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730922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114158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2200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price → REAL, quantity → INTEGER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23544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294E6B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660057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5429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80236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sales_lines für Tableau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13232" y="32461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Verwendete SQL-Konstruktionen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77240" y="370332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8"/>
              <a:buFont typeface="Arial"/>
              <a:buNone/>
            </a:pPr>
            <a:r>
              <a:rPr b="0" i="0" lang="en-US" sz="888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JOIN aller 4 Tabellen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GROUP BY / HAVING / CASE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strftime() für Datum und Uhrzeit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CTE / Unterabfrage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LAG, RANK, SUM() OVER — Fensterfunktionen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572000" y="3337560"/>
            <a:ext cx="6583680" cy="1554480"/>
          </a:xfrm>
          <a:prstGeom prst="roundRect">
            <a:avLst>
              <a:gd fmla="val 2941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754880" y="3547872"/>
            <a:ext cx="6217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sales_lines AS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o.order_id, o.date, o.time,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pt.name AS pizza_name, p.size,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CAST(p.price AS REAL) AS unit_price,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CAST(od.quantity AS INTEGER) AS quantity,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CAST(p.price AS REAL)*CAST(od.quantity AS INTEGER) AS revenue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 JOIN order_details od ...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68680" y="534924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033272" y="545896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Kontrolle: sales_lines und order_details müssen gleich viele Zeilen haben.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4</a:t>
            </a:r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1. Zentrale Kennzahlen für 2015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Wie hoch sind Umsatz, Bestellungen, verkaufte Pizzen, mittlerer Bestellwert und die Pizzen pro Bestellung?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8368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3" y="1975104"/>
            <a:ext cx="73200" cy="10242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2960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5800" y="2432300"/>
            <a:ext cx="1874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817.860,05 $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926080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926080" y="1975104"/>
            <a:ext cx="73152" cy="1024128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090672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Bestellungen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090672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21.350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93792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193792" y="1975104"/>
            <a:ext cx="73152" cy="1024128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358384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Pizzen verkauft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58384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49.574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461504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461504" y="1975104"/>
            <a:ext cx="73152" cy="1024128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626096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Ø Bestellwert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626096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38,31 $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729216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729216" y="1975104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893808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Pizzen / Bestellung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893808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2,32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68680" y="3319272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033272" y="3429000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2015 gab es 21.350 Bestellungen mit durchschnittlich 2,32 Pizzen. Zeitfenster, Menü und große Bestellungen werden genauer untersucht.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13232" y="3977640"/>
            <a:ext cx="10744200" cy="1965960"/>
          </a:xfrm>
          <a:prstGeom prst="roundRect">
            <a:avLst>
              <a:gd fmla="val 186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77824" y="40873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77824" y="4325112"/>
            <a:ext cx="10415016" cy="1527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ROUND(SUM(p.price * od.quantity),2) AS total_revenue,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COUNT(DISTINCT o.order_id) AS total_orders,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SUM(od.quantity) AS total_pizzas_sold,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 * od.quantity) / COUNT(DISTINCT o.order_id),2) AS avg_order_value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 JOIN order_details od ON o.order_id=od.order_id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JOIN pizzas p ON od.pizza_id=p.pizza_id;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5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2. Monatliche Entwicklung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Welcher Monat war am stärksten bzw. am schwächsten, und wie änderte sich der Umsatz zum Vormonat?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2960" y="1938528"/>
            <a:ext cx="73152" cy="117043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8755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Stärkster Monat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87552" y="2395728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Juli 72.557,90 $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8755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1.935 Bestellungen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2628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26280" y="1938528"/>
            <a:ext cx="73152" cy="117043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9087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Schwächster Monat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99425" y="2395725"/>
            <a:ext cx="3234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Oktober 64.027,60 $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69087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1.646 Bestellungen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2960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229600" y="1938528"/>
            <a:ext cx="73152" cy="1170432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39419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Größter Anstieg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394192" y="2395728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November +9,95 %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39419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Dezember: −8,09 %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68680" y="3401568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033272" y="3511296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 Umsätze schwanken im Jahresverlauf. Oktober war der umsatzschwächste Monat.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13232" y="3977640"/>
            <a:ext cx="10744200" cy="1965960"/>
          </a:xfrm>
          <a:prstGeom prst="roundRect">
            <a:avLst>
              <a:gd fmla="val 186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77824" y="40873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77824" y="4325112"/>
            <a:ext cx="10415016" cy="1527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monthly_sales AS (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strftime('%m',o.date) AS month,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SUM(p.price*od.quantity) AS revenue, COUNT(DISTINCT o.order_id) AS orders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FROM orders o JOIN order_details od ON o.order_id=od.order_id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JOIN pizzas p ON od.pizza_id=p.pizza_id GROUP BY month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month, revenue, orders,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ROUND((revenue-LAG(revenue) OVER(ORDER BY month))/LAG(revenue) OVER(ORDER BY month)*100,2) AS revenue_change_pct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monthly_sales;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6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3. Auslastung: Wochentage und Stunden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Wann war die Nachfrage besonders hoch bzw. niedrig? Wie viele Bestellungen gab es im Tagesdurchschnitt?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31520" y="18928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176272" y="1901952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176272" y="1901952"/>
            <a:ext cx="2846178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760720" y="18745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58,21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31520" y="220370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176272" y="2212848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176272" y="2212848"/>
            <a:ext cx="2795327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760720" y="218541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57,17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25146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176272" y="2523744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176272" y="2523744"/>
            <a:ext cx="2843244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760720" y="249631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58,15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31520" y="28254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176272" y="2834640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176272" y="2834640"/>
            <a:ext cx="3045670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760720" y="280720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62,29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31520" y="31363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176272" y="3145536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176272" y="3145536"/>
            <a:ext cx="345981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760720" y="311810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70,76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31520" y="344728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176272" y="3456432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176272" y="3456432"/>
            <a:ext cx="2969393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760720" y="342900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60,73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" y="375818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176272" y="3767328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176272" y="3767328"/>
            <a:ext cx="2467242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760720" y="37398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50,46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903720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Wichtige Zeitfenster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903720" y="224028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059168" y="235000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12:00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229600" y="235000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2.520 Bestellungen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802368" y="235000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Höchste Stunde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903720" y="274320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059168" y="285292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12:00–13:00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29600" y="285292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Mittagsspitze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9802368" y="285292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hohe Auslastung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903720" y="324612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059168" y="335584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17:00–19:00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229600" y="335584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Abendspitze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802368" y="33558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hohe Auslastung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903720" y="374904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059168" y="38587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Do, 13:00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229600" y="385876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438 Bestellungen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802368" y="385876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stärkste Kombination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903720" y="425196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0DDD3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059168" y="43616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22:00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229600" y="436168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b="0" i="0" lang="en-US" sz="756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ruhiges Zeitfenster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9802368" y="436168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besonders am Tagesende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68680" y="4773168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033272" y="4882896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Personalbedarf am Freitag und zur Mittags- und Abendspitze erhöhen; den Bedarf um 22 Uhr separat prüfen.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13232" y="5285232"/>
            <a:ext cx="10744200" cy="804672"/>
          </a:xfrm>
          <a:prstGeom prst="roundRect">
            <a:avLst>
              <a:gd fmla="val 4545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77824" y="539496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77824" y="5632704"/>
            <a:ext cx="10415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CASE strftime('%w',date) ... END AS weekday,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COUNT(DISTINCT order_id) AS total_orders,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ROUND(COUNT(DISTINCT order_id)*1.0/COUNT(DISTINCT date),2) AS avg_orders_per_day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GROUP BY strftime('%w',date);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7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112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4. Bestseller und schwache Produkte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Welche Pizzen liegen bei Umsatz und Menge vorn bzw. hinten? Wo überschneiden sich die Top-5-Listen?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77240" y="1828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Top-5 nach Umsatz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Thai Chicken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194560" y="2240280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194560" y="2240280"/>
            <a:ext cx="2978721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276088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43.434 $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49808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BBQ Chicken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194560" y="2587752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194560" y="2587752"/>
            <a:ext cx="293302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276088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42.768 $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49808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California Chicken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194560" y="2935224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194560" y="2935224"/>
            <a:ext cx="2839864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276088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41.410 $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49808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Classic Deluxe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2194560" y="3282696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194560" y="3282696"/>
            <a:ext cx="261841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276088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38.181 $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Spicy Italian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194560" y="3630168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194560" y="3630168"/>
            <a:ext cx="2388727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276088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34.831 $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355080" y="18288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Flop-5 nach Umsatz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327648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Brie Carre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772400" y="2240280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772400" y="2240280"/>
            <a:ext cx="2053077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0671048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11.589 $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327648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Green Garden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772400" y="2587752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772400" y="2587752"/>
            <a:ext cx="247247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0671048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13.956 $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327648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Spinach Supreme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772400" y="2935224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772400" y="2935224"/>
            <a:ext cx="2706683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0671048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15.278 $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327648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Mediterranean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772400" y="3282696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772400" y="3282696"/>
            <a:ext cx="2721343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0671048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15.361 $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327648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Spinach Pesto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772400" y="3630168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772400" y="3630168"/>
            <a:ext cx="2762888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0671048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15.596 $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41248" y="4251960"/>
            <a:ext cx="10442448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1005840" y="4361688"/>
            <a:ext cx="10113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 Top-5 nach Umsatz und Stückzahl überschneiden sich bei Thai Chicken, BBQ Chicken und Classic Deluxe. Brie Carre liegt in beiden Kennzahlen auf dem letzten Platz.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13232" y="4828032"/>
            <a:ext cx="10744200" cy="1207008"/>
          </a:xfrm>
          <a:prstGeom prst="roundRect">
            <a:avLst>
              <a:gd fmla="val 303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77824" y="493776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77824" y="5175504"/>
            <a:ext cx="1041501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pizza_sales AS (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pt.name AS pizza_name, SUM(od.quantity) AS pizzas_sold,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SUM(p.price*od.quantity) AS revenue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FROM order_details od JOIN pizzas p ON od.pizza_id=p.pizza_id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JOIN pizza_types pt ON p.pizza_type_id=pt.pizza_type_id GROUP BY pt.name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pizza_sales ORDER BY revenue DESC LIMIT 5;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8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5. Umsatzstruktur: Kategorien und Größen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Wie hoch sind die Umsatzanteile der Kategorien und Größen? Welche Größen sind besonders wichtig?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49808" y="18288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Kategorien — Umsatz fast gleichmäßig verteilt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77240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Classic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221992" y="224028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2221992" y="2240280"/>
            <a:ext cx="2592471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983480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26,91 %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77240" y="264261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Supreme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221992" y="265176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221992" y="2651760"/>
            <a:ext cx="245278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983480" y="262432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25,46 %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77240" y="30540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Chicken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221992" y="306324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221992" y="3063240"/>
            <a:ext cx="2308272" cy="128016"/>
          </a:xfrm>
          <a:prstGeom prst="roundRect">
            <a:avLst>
              <a:gd fmla="val 35714" name="adj"/>
            </a:avLst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983480" y="303580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23,96 %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777240" y="346557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Veggie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221992" y="347472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2221992" y="3474720"/>
            <a:ext cx="2281297" cy="128016"/>
          </a:xfrm>
          <a:prstGeom prst="roundRect">
            <a:avLst>
              <a:gd fmla="val 35714" name="adj"/>
            </a:avLst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983480" y="34472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23,68 %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355080" y="18288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Größen — L dominiert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355080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799832" y="2240280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799832" y="2240280"/>
            <a:ext cx="251770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0607040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45,89 %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355080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99832" y="2587752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799832" y="2587752"/>
            <a:ext cx="1672803" cy="128016"/>
          </a:xfrm>
          <a:prstGeom prst="roundRect">
            <a:avLst>
              <a:gd fmla="val 35714" name="adj"/>
            </a:avLst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0607040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30,49 %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355080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7799832" y="2935224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7799832" y="2935224"/>
            <a:ext cx="1194389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607040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21,77 %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355080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XL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7799832" y="3282696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7799832" y="3282696"/>
            <a:ext cx="94366" cy="128016"/>
          </a:xfrm>
          <a:prstGeom prst="roundRect">
            <a:avLst>
              <a:gd fmla="val 48450" name="adj"/>
            </a:avLst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0607040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1,72 %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355080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XXL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799832" y="3630168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799832" y="3630168"/>
            <a:ext cx="6584" cy="128016"/>
          </a:xfrm>
          <a:prstGeom prst="roundRect">
            <a:avLst>
              <a:gd fmla="val 694411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0607040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0,12 %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850392" y="4352544"/>
            <a:ext cx="1042416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014984" y="4462272"/>
            <a:ext cx="100949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Größe L: 45,89 % Umsatzanteil. XL und XXL erzielen zusammen weniger als 2 % des Gesamtumsatzes.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13232" y="4901184"/>
            <a:ext cx="10744200" cy="1115568"/>
          </a:xfrm>
          <a:prstGeom prst="roundRect">
            <a:avLst>
              <a:gd fmla="val 3279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77824" y="501091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877824" y="5248656"/>
            <a:ext cx="10415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category_sales AS (...)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category, ROUND(revenue,2),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ROUND(revenue/(SELECT SUM(revenue) FROM category_sales)*100,2) AS revenue_share_pct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category_sales ORDER BY revenue DESC;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9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6. Kandidaten für eine Menükürzung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Welche fünf Pizzen haben einen geringen Umsatzanteil, und wie hoch ist ihr gemeinsamer Umsatz?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77240" y="1828800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932688" y="1938528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1. The Brie Carre Pizza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715000" y="1938528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11.588,50 $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77240" y="2313432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932688" y="2423160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2. The Green Garden Pizza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715000" y="2423160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13.955,75 $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77240" y="2798064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932688" y="2907792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3. The Spinach Supreme Pizza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715000" y="2907792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15.277,75 $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77240" y="3282696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932688" y="3392424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4. The Mediterranean Pizza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715000" y="3392424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15.360,50 $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77240" y="3767328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932688" y="3877056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5. The Spinach Pesto Pizza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715000" y="387705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15.596,00 $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909560" y="1938528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7909560" y="1938528"/>
            <a:ext cx="73152" cy="11430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8074152" y="2084832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Gesamt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8074152" y="2395728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71.778,50 $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8074152" y="2770632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 Produkte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7909560" y="3401568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7909560" y="3401568"/>
            <a:ext cx="73152" cy="114300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8074152" y="3547872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Umsatzanteil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074152" y="3858768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8,78 %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8074152" y="4233672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des Gesamtumsatzes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68680" y="4631430"/>
            <a:ext cx="10378500" cy="438900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1033272" y="486460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Nicht automatisch streichen: Zuerst Wareneinsatz, Marge und Zutaten prüfen.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13225" y="5157176"/>
            <a:ext cx="10744200" cy="951000"/>
          </a:xfrm>
          <a:prstGeom prst="roundRect">
            <a:avLst>
              <a:gd fmla="val 4444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77825" y="5267048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77825" y="5468349"/>
            <a:ext cx="10415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pizza_sales AS (...), bottom_5 AS (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* FROM pizza_sales ORDER BY revenue ASC, pizzas_sold ASC LIMIT 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pizza_name, pizzas_sold, ROUND(revenue,2),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ROUND(SUM(revenue) OVER(),2) AS bottom_5_total_revenue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bottom_5;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10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7. Große Bestellungen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Welcher Anteil der Bestellungen enthält mindestens 4 Pizzen? Wie groß ist ihr Umsatzanteil?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82296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822960" y="1901952"/>
            <a:ext cx="73152" cy="118872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98755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Pizzen — Anteil der Bestellungen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8755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18,17 %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98755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3.880 von 21.350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20624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206240" y="1901952"/>
            <a:ext cx="73152" cy="118872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37083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Pizzen — Umsatz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37083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322.570,90 $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37083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704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39,44 % des Gesamtumsatzes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758952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7589520" y="1901952"/>
            <a:ext cx="73152" cy="1188720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775411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1–3 Pizzen — Umsatz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75411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495.289,15 $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775411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704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60,56 % des Gesamtumsatzes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1005840" y="358444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Anteil Bestellungen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1005840" y="3913632"/>
            <a:ext cx="8961120" cy="310896"/>
          </a:xfrm>
          <a:prstGeom prst="rect">
            <a:avLst/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1005840" y="3913632"/>
            <a:ext cx="1627632" cy="310896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353312" y="398678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18,17 %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005840" y="4407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Umsatzanteil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005840" y="4736592"/>
            <a:ext cx="8961120" cy="310896"/>
          </a:xfrm>
          <a:prstGeom prst="rect">
            <a:avLst/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1005840" y="4736592"/>
            <a:ext cx="3529584" cy="310896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2148840" y="480974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39,44 %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68680" y="5285232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033272" y="5394960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Gruppenangebote und Angebote für Firmen sollten getestet werden: Große Bestellungen erzielen einen hohen Umsatzanteil.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11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8. Werbeaktion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Frage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i="0" lang="en-US" sz="1073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Wann sollte eine Werbeaktion getestet werden, und wie sieht ein Szenario mit 10 % mehr Umsatz aus?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68680" y="1828800"/>
            <a:ext cx="1965960" cy="310896"/>
          </a:xfrm>
          <a:prstGeom prst="roundRect">
            <a:avLst>
              <a:gd fmla="val 20588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932688" y="1892808"/>
            <a:ext cx="18379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Montag · 22:00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6868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868680" y="2331720"/>
            <a:ext cx="73152" cy="11430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03327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Aktueller Umsatz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03327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1.869,05 $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103327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53 Bestellungen im Jahr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25196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251960" y="2331720"/>
            <a:ext cx="73152" cy="1143000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41655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Szenario-Zuwachs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41655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+186,91 $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41655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+10 %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63524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7635240" y="2331720"/>
            <a:ext cx="73152" cy="114300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779983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 im Szenario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779983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2.055,96 $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779983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nach +10 %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868680" y="385876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Geplanter Test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868680" y="4279392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b="0" i="0" lang="en-US" sz="924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Test am Montag um 22 Uhr: 10 % mehr Umsatz sind nur ein Rechenszenario, keine Prognose. Der tatsächliche Effekt muss im Test gemessen werden.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713232" y="4892040"/>
            <a:ext cx="10744200" cy="1170432"/>
          </a:xfrm>
          <a:prstGeom prst="roundRect">
            <a:avLst>
              <a:gd fmla="val 3125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877824" y="50017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877824" y="5239512"/>
            <a:ext cx="10415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weekday, hour, COUNT(DISTINCT o.order_id) AS orders,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ROUND(SUM(p.price*od.quantity),2) AS current_revenue,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ROUND(SUM(p.price*od.quantity)*0.10,2) AS additional_revenue_10pct,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ROUND(SUM(p.price*od.quantity)*1.10,2) AS potential_revenue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... WHERE CAST(strftime('%H',o.time) AS INTEGER) BETWEEN 11 AND 22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GROUP BY weekday, hour ORDER BY current_revenue ASC LIMIT 10;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12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Tableau-Dashboard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Gesamtbild der Verkäufe: KPI, Saisonalität, Spitzenzeiten, Rankings und Umsatzstruktur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48640" y="1170432"/>
            <a:ext cx="6446520" cy="5230368"/>
          </a:xfrm>
          <a:prstGeom prst="roundRect">
            <a:avLst>
              <a:gd fmla="val 699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zza Sales Analysis — 2015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280160"/>
            <a:ext cx="6217920" cy="501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/>
          <p:nvPr/>
        </p:nvSpPr>
        <p:spPr>
          <a:xfrm>
            <a:off x="7242048" y="1325880"/>
            <a:ext cx="4279392" cy="1152144"/>
          </a:xfrm>
          <a:prstGeom prst="roundRect">
            <a:avLst>
              <a:gd fmla="val 3175" name="adj"/>
            </a:avLst>
          </a:prstGeom>
          <a:solidFill>
            <a:srgbClr val="EDF4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7498080" y="153619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1500"/>
              <a:buFont typeface="Georgia"/>
              <a:buNone/>
            </a:pPr>
            <a:r>
              <a:rPr b="1" i="0" lang="en-US" sz="1320" u="none" cap="none" strike="noStrike">
                <a:solidFill>
                  <a:srgbClr val="1F425D"/>
                </a:solidFill>
                <a:latin typeface="Georgia"/>
                <a:ea typeface="Georgia"/>
                <a:cs typeface="Georgia"/>
                <a:sym typeface="Georgia"/>
              </a:rPr>
              <a:t>Inhalt des Dashboards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498080" y="1901952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Kennzahlen • Monatsverlauf • Heatmap • Top-/Flop-5 • Umsatzstruktur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7242048" y="2788920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242048" y="2788920"/>
            <a:ext cx="73152" cy="98755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7406640" y="2935224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7406640" y="3246120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817.860 $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9400032" y="2788920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9400032" y="2788920"/>
            <a:ext cx="73152" cy="987552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9564624" y="2935224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Bestellungen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9564624" y="3246120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21.350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7242048" y="4041648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7242048" y="4041648"/>
            <a:ext cx="73152" cy="98755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7406640" y="4187952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Spitzentag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7406640" y="4498848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Freitag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7406640" y="4718304"/>
            <a:ext cx="1664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70,76 / Tag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9400032" y="4041648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9400032" y="4041648"/>
            <a:ext cx="73152" cy="987552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9564624" y="4187952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Schwächster Monat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9564624" y="4498848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Oktober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9564624" y="4718304"/>
            <a:ext cx="1664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64.027,60 $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7242048" y="5376672"/>
            <a:ext cx="4078224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7406640" y="54864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Interaktive Filter im Tableau: Month • Category • Size (Monat, Kategorie, Größe)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3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13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Tableau-Dashboard 2 — Geschäftsempfehlungen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836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Die zweite Dashboard-Seite zeigt Ergebnisse zu Menü, großen Bestellungen und Werbeaktion.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548640" y="1170432"/>
            <a:ext cx="5806440" cy="5230368"/>
          </a:xfrm>
          <a:prstGeom prst="roundRect">
            <a:avLst>
              <a:gd fmla="val 699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usiness Recommendations.png" id="500" name="Google Shape;5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280160"/>
            <a:ext cx="5577840" cy="5010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4"/>
          <p:cNvSpPr/>
          <p:nvPr/>
        </p:nvSpPr>
        <p:spPr>
          <a:xfrm>
            <a:off x="6629400" y="1325880"/>
            <a:ext cx="4892040" cy="1078992"/>
          </a:xfrm>
          <a:prstGeom prst="roundRect">
            <a:avLst>
              <a:gd fmla="val 3390" name="adj"/>
            </a:avLst>
          </a:prstGeom>
          <a:solidFill>
            <a:srgbClr val="EDF4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6903720" y="153619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1500"/>
              <a:buFont typeface="Georgia"/>
              <a:buNone/>
            </a:pPr>
            <a:r>
              <a:rPr b="1" i="0" lang="en-US" sz="1320" u="none" cap="none" strike="noStrike">
                <a:solidFill>
                  <a:srgbClr val="1F425D"/>
                </a:solidFill>
                <a:latin typeface="Georgia"/>
                <a:ea typeface="Georgia"/>
                <a:cs typeface="Georgia"/>
                <a:sym typeface="Georgia"/>
              </a:rPr>
              <a:t>Entscheidungen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6903720" y="1865376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Menü • große Bestellungen • Test einer Werbeaktion am späten Abend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629400" y="269748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6629400" y="2697480"/>
            <a:ext cx="73152" cy="1024128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6793992" y="284378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 schwache Pizzen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794000" y="3072376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8,78 %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793992" y="3410712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Umsatzanteil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9189720" y="269748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9189720" y="2697480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9354312" y="284378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792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Pizzen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354300" y="3044950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39,44 %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9354312" y="3410712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Umsatzanteil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6629400" y="397764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629400" y="3977640"/>
            <a:ext cx="73152" cy="1024128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793992" y="412394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Montag, 22:00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794000" y="4254225"/>
            <a:ext cx="19842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1.869,05 $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6793992" y="469087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aktueller Umsatz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9189720" y="397764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9189720" y="3977640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9354300" y="4023450"/>
            <a:ext cx="19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+10 %-Szenario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354300" y="4242750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2.055,96 $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9336062" y="4690810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Umsatz im Szenario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629400" y="5376672"/>
            <a:ext cx="480060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793992" y="5486400"/>
            <a:ext cx="44714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Wichtig: Eine Streichung schwacher Pizzen erst nach Prüfung von Kosten und Marge entscheiden.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4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14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5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112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Zentrale Erkenntnisse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836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Drei Ergebnisse mit dem größten Einfluss auf die Entscheidungen der Besitzerin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822960" y="1636776"/>
            <a:ext cx="566928" cy="566928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22960" y="181051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1691640" y="150876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i="0" lang="en-US" sz="1496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Nachfragespitze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1691640" y="194767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Freitag: 70,76 Bestellungen pro Tag; Spitzen um 12–13 Uhr und 17–19 Uhr.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822960" y="3054096"/>
            <a:ext cx="566928" cy="566928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22960" y="32278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691640" y="292608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Menü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1691640" y="3364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b="0" i="0" lang="en-US" sz="924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5 schwache Produkte erzielen 8,78 % des Umsatzes. Marge und Zutaten prüfen.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822960" y="4471416"/>
            <a:ext cx="566928" cy="566928"/>
          </a:xfrm>
          <a:prstGeom prst="ellipse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22960" y="464515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1691640" y="434340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Große Bestellungen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1691640" y="478231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b="0" i="0" lang="en-US" sz="924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18,17 % der Bestellungen enthalten 4+ Pizzen und bringen 39,44 % des Umsatzes.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868680" y="57150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1033272" y="58247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 Ergebnisse helfen bei der Schichtplanung, Menüprüfung und Planung von Werbeaktionen.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5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15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Empfehlungen für Laura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Jede Empfehlung basiert auf einer konkreten Kennzahl aus der Analyse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777240" y="1417320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777240" y="1417320"/>
            <a:ext cx="109728" cy="117043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1078992" y="15636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408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Schichtplanung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3429000" y="1536192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88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Personal am Freitag sowie zwischen 12–13 Uhr und 17–19 Uhr verstärken; Bedarf um 22 Uhr prüfen.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8915400" y="1581912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9079992" y="173736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70,76 Bestellungen/Tag am Freitag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777240" y="2898648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777240" y="2898648"/>
            <a:ext cx="109728" cy="117043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1078992" y="30449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Menü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3429000" y="3017520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88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5 schwache Pizzen überprüfen. Vor einer Streichung Wareneinsatz, Marge und Zutaten prüfen.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8915400" y="3063240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9079992" y="321868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8,78 % Umsatz zusammen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77240" y="4379976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777240" y="4379976"/>
            <a:ext cx="109728" cy="1170432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1078992" y="45262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408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Werbeaktion und Firmenangebote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3429000" y="4498848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Werbeaktion am Montag um 22 Uhr und Angebote ab 4 Pizzen testen.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8915400" y="4544568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9079992" y="4700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Szenario (+10 %): +186,91 $; 4+ Pizzen: 39,44 % Umsatz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16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Datenbeschränkungen und nächste Schritte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777240" y="1508760"/>
            <a:ext cx="5120640" cy="3977640"/>
          </a:xfrm>
          <a:prstGeom prst="roundRect">
            <a:avLst>
              <a:gd fmla="val 920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777240" y="1508760"/>
            <a:ext cx="5120640" cy="43891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941832" y="163677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32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Beschränkungen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1033272" y="2267712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344168" y="22128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Nur ein Datenjahr — 2015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033272" y="2980944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1344168" y="29260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Keine Daten zu Wareneinsatz, Marge und Gewinn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1033272" y="3694176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1344168" y="363931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Keine Daten zu Personal und realen Schichtzeiten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1033272" y="4407408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1344168" y="435254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10 % mehr Umsatz: Szenario, kein A/B-Test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6172200" y="1508760"/>
            <a:ext cx="5120640" cy="3977640"/>
          </a:xfrm>
          <a:prstGeom prst="roundRect">
            <a:avLst>
              <a:gd fmla="val 920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6172200" y="1508760"/>
            <a:ext cx="5120640" cy="43891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6336792" y="163677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Nächste Schritte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6428232" y="2267712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6739128" y="22128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Wareneinsatz und Marge je Pizza ergänzen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6428232" y="2980944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739128" y="29260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Einzigartige Zutaten schwacher Produkte prüfen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6428232" y="3694176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6739128" y="363931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Werbeaktion am Montag um 22 Uhr testen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6428232" y="4407408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6739128" y="435254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Personalplanung mit der tatsächlichen Auslastung vergleichen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868680" y="57150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1033272" y="58247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Wichtig: Die Empfehlungen basieren auf Verkäufen und Umsatz. Für endgültige Entscheidungen werden auch Kosten- und Personaldaten benötigt.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7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17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731520" y="6858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400"/>
              <a:buFont typeface="Georgia"/>
              <a:buNone/>
            </a:pPr>
            <a:r>
              <a:rPr b="1" i="0" lang="en-US" sz="2992" u="none" cap="none" strike="noStrike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Vielen Dank!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749808" y="1417320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1E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7D1E4"/>
                </a:solidFill>
                <a:latin typeface="Arial"/>
                <a:ea typeface="Arial"/>
                <a:cs typeface="Arial"/>
                <a:sym typeface="Arial"/>
              </a:rPr>
              <a:t>Pizza Sales Analysis — 2015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777240" y="2057400"/>
            <a:ext cx="5029200" cy="2651760"/>
          </a:xfrm>
          <a:prstGeom prst="roundRect">
            <a:avLst>
              <a:gd fmla="val 1724" name="adj"/>
            </a:avLst>
          </a:prstGeom>
          <a:solidFill>
            <a:srgbClr val="365D79"/>
          </a:solidFill>
          <a:ln cap="flat" cmpd="sng" w="12700">
            <a:solidFill>
              <a:srgbClr val="5E86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1024128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Weiterführende Links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1024125" y="2697475"/>
            <a:ext cx="4697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968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Datensatz: https://www.kaggle.com/datasets/mysarahmadbhat/pizza-place-sales</a:t>
            </a:r>
            <a:endParaRPr b="0" i="0" sz="110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8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Tableau Public: https://public.tableau.com/views/pizza_dashboard_17910344805020/PizzaSalesAnalysis2015?:language=en-US&amp;:sid=&amp;:redirect=auth&amp;:display_count=n&amp;:origin=viz_share_link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8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7818120" y="1554480"/>
            <a:ext cx="2423160" cy="2423160"/>
          </a:xfrm>
          <a:prstGeom prst="ellipse">
            <a:avLst/>
          </a:prstGeom>
          <a:solidFill>
            <a:srgbClr val="D9E8F3"/>
          </a:solidFill>
          <a:ln cap="flat" cmpd="sng" w="12700">
            <a:solidFill>
              <a:srgbClr val="D9E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8065008" y="1801368"/>
            <a:ext cx="1938528" cy="1938528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8549640" y="2084832"/>
            <a:ext cx="164592" cy="164592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9189720" y="2697480"/>
            <a:ext cx="164592" cy="164592"/>
          </a:xfrm>
          <a:prstGeom prst="ellipse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7699248" y="43434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Fragen?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8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"/>
              <a:buNone/>
            </a:pPr>
            <a:r>
              <a:t>18</a:t>
            </a:r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2026-10-02T09:03:16Z</dcterms:created>
  <dc:creator>OpenAI</dc:creator>
</cp:coreProperties>
</file>